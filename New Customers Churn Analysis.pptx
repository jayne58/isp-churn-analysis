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4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K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 Installed</c:v>
                </c:pt>
                <c:pt idx="1">
                  <c:v>0-3</c:v>
                </c:pt>
                <c:pt idx="2">
                  <c:v>4-6</c:v>
                </c:pt>
                <c:pt idx="3">
                  <c:v>7-9</c:v>
                </c:pt>
                <c:pt idx="4">
                  <c:v>10-12</c:v>
                </c:pt>
                <c:pt idx="5">
                  <c:v>13-15</c:v>
                </c:pt>
                <c:pt idx="6">
                  <c:v>16-18</c:v>
                </c:pt>
                <c:pt idx="7">
                  <c:v>19-21</c:v>
                </c:pt>
                <c:pt idx="8">
                  <c:v>22-24</c:v>
                </c:pt>
                <c:pt idx="9">
                  <c:v>2+ years</c:v>
                </c:pt>
                <c:pt idx="10">
                  <c:v>Active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13946</c:v>
                </c:pt>
                <c:pt idx="2">
                  <c:v>12479</c:v>
                </c:pt>
                <c:pt idx="3">
                  <c:v>11279</c:v>
                </c:pt>
                <c:pt idx="4">
                  <c:v>10039</c:v>
                </c:pt>
                <c:pt idx="5">
                  <c:v>8964</c:v>
                </c:pt>
                <c:pt idx="6">
                  <c:v>7921</c:v>
                </c:pt>
                <c:pt idx="7">
                  <c:v>6888</c:v>
                </c:pt>
                <c:pt idx="8">
                  <c:v>6081</c:v>
                </c:pt>
                <c:pt idx="9">
                  <c:v>5058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C1-455F-9B83-85A028E163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Installed</c:v>
                </c:pt>
              </c:strCache>
            </c:strRef>
          </c:tx>
          <c:spPr>
            <a:solidFill>
              <a:srgbClr val="1AAB40"/>
            </a:solidFill>
            <a:effectLst/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K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 Installed</c:v>
                </c:pt>
                <c:pt idx="1">
                  <c:v>0-3</c:v>
                </c:pt>
                <c:pt idx="2">
                  <c:v>4-6</c:v>
                </c:pt>
                <c:pt idx="3">
                  <c:v>7-9</c:v>
                </c:pt>
                <c:pt idx="4">
                  <c:v>10-12</c:v>
                </c:pt>
                <c:pt idx="5">
                  <c:v>13-15</c:v>
                </c:pt>
                <c:pt idx="6">
                  <c:v>16-18</c:v>
                </c:pt>
                <c:pt idx="7">
                  <c:v>19-21</c:v>
                </c:pt>
                <c:pt idx="8">
                  <c:v>22-24</c:v>
                </c:pt>
                <c:pt idx="9">
                  <c:v>2+ years</c:v>
                </c:pt>
                <c:pt idx="10">
                  <c:v>Active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15779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C1-455F-9B83-85A028E163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Churned / Active</c:v>
                </c:pt>
              </c:strCache>
            </c:strRef>
          </c:tx>
          <c:spPr>
            <a:solidFill>
              <a:srgbClr val="D64554"/>
            </a:solidFill>
            <a:effectLst/>
          </c:spPr>
          <c:invertIfNegative val="0"/>
          <c:dLbls>
            <c:numFmt formatCode="#,##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K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Total Installed</c:v>
                </c:pt>
                <c:pt idx="1">
                  <c:v>0-3</c:v>
                </c:pt>
                <c:pt idx="2">
                  <c:v>4-6</c:v>
                </c:pt>
                <c:pt idx="3">
                  <c:v>7-9</c:v>
                </c:pt>
                <c:pt idx="4">
                  <c:v>10-12</c:v>
                </c:pt>
                <c:pt idx="5">
                  <c:v>13-15</c:v>
                </c:pt>
                <c:pt idx="6">
                  <c:v>16-18</c:v>
                </c:pt>
                <c:pt idx="7">
                  <c:v>19-21</c:v>
                </c:pt>
                <c:pt idx="8">
                  <c:v>22-24</c:v>
                </c:pt>
                <c:pt idx="9">
                  <c:v>2+ years</c:v>
                </c:pt>
                <c:pt idx="10">
                  <c:v>Active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1833</c:v>
                </c:pt>
                <c:pt idx="2">
                  <c:v>1467</c:v>
                </c:pt>
                <c:pt idx="3">
                  <c:v>1200</c:v>
                </c:pt>
                <c:pt idx="4">
                  <c:v>1240</c:v>
                </c:pt>
                <c:pt idx="5">
                  <c:v>1075</c:v>
                </c:pt>
                <c:pt idx="6">
                  <c:v>1043</c:v>
                </c:pt>
                <c:pt idx="7">
                  <c:v>1033</c:v>
                </c:pt>
                <c:pt idx="8">
                  <c:v>807</c:v>
                </c:pt>
                <c:pt idx="9">
                  <c:v>1023</c:v>
                </c:pt>
                <c:pt idx="10">
                  <c:v>5058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C1-455F-9B83-85A028E1632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Service Friction (Complained)</c:v>
                </c:pt>
              </c:strCache>
            </c:strRef>
          </c:tx>
          <c:spPr>
            <a:solidFill>
              <a:srgbClr val="D64554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K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0-3 months</c:v>
                </c:pt>
                <c:pt idx="1">
                  <c:v>4-6 months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55.6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CE-4153-8A88-B61C893BAF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Silent Churn (No Complaint)</c:v>
                </c:pt>
              </c:strCache>
            </c:strRef>
          </c:tx>
          <c:spPr>
            <a:solidFill>
              <a:srgbClr val="09478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K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0-3 months</c:v>
                </c:pt>
                <c:pt idx="1">
                  <c:v>4-6 months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56</c:v>
                </c:pt>
                <c:pt idx="1">
                  <c:v>44.4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CE-4153-8A88-B61C893BAFD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094780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K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0 Complaints</c:v>
                </c:pt>
                <c:pt idx="1">
                  <c:v>0.1–1 / mo (Occasional)</c:v>
                </c:pt>
                <c:pt idx="2">
                  <c:v>1.1–2 / mo (Moderate)</c:v>
                </c:pt>
                <c:pt idx="3">
                  <c:v>3–4 / mo (Frequent)</c:v>
                </c:pt>
                <c:pt idx="4">
                  <c:v>5+ / mo (Severe)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0.57999999999999996</c:v>
                </c:pt>
                <c:pt idx="1">
                  <c:v>0.57999999999999996</c:v>
                </c:pt>
                <c:pt idx="2">
                  <c:v>0.68</c:v>
                </c:pt>
                <c:pt idx="3">
                  <c:v>0.77</c:v>
                </c:pt>
                <c:pt idx="4">
                  <c:v>0.83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9E-4E97-90CB-E091C831C90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6B7280"/>
                    </a:solidFill>
                    <a:latin typeface="Arial"/>
                  </a:rPr>
                  <a:t>Churn Rate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</c:v>
                </c:pt>
              </c:strCache>
            </c:strRef>
          </c:tx>
          <c:spPr>
            <a:solidFill>
              <a:srgbClr val="094780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KE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0.55000000000000004</c:v>
                </c:pt>
                <c:pt idx="1">
                  <c:v>0.59</c:v>
                </c:pt>
                <c:pt idx="2">
                  <c:v>0.59</c:v>
                </c:pt>
                <c:pt idx="3">
                  <c:v>0.66</c:v>
                </c:pt>
                <c:pt idx="4">
                  <c:v>0.67</c:v>
                </c:pt>
                <c:pt idx="5">
                  <c:v>0.77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91-4DC4-BF08-5A5B079ABC9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6B7280"/>
                    </a:solidFill>
                    <a:latin typeface="Arial"/>
                  </a:rPr>
                  <a:t>Missed Payments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6B7280"/>
                    </a:solidFill>
                    <a:latin typeface="Arial"/>
                  </a:rPr>
                  <a:t>Churn Rate</a:t>
                </a:r>
              </a:p>
            </c:rich>
          </c:tx>
          <c:overlay val="0"/>
        </c:title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2DB85-882A-4E56-98D4-E4C317F8D387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8B2F3-87CA-4F4F-A39B-924B2372CA5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51118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2A8D6-0DC2-4CF2-BB8F-447B50D67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157AF-2D99-F4FB-DFA9-D45E16FEC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2DD3F-3C32-C449-EE4F-53397E36D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0C054-1A3E-4281-5E6C-AB4DC9BDD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0A672-9BE2-A896-F564-FCB09B4F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7905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30368-7127-31E9-2C7D-FFA2B2A68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29D9E-5BA9-6CEF-531F-39154A99D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15E27-CB07-6F17-9B9C-526AB9705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3FADC-ED75-8B52-5BF9-664DAD5CA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B2159-ECE5-70BD-654E-9DA1715D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5193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2913-C4FD-6067-DBBE-87AAF5355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B42F6-3C97-18CA-19E9-8227A05A5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217A3-9E4E-BF62-E9FD-887BED8B7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1A633-F7D7-D13F-6E4E-89F7EF9E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0AC15-A084-0058-DE89-41C9C0321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972831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81F5-732C-6556-ED3E-1C190B6FF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580ED-4C2A-5B1A-5103-E0CB18197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530BC-E212-5BFC-0FA6-E55C0D0DF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99E814-DFD1-8D66-E536-76A99AD24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C7387-DC87-0B63-04B9-DCDD855F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A007A-9C4C-0C13-3584-E92310B48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8735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05FD5-AC1C-0CF9-4815-ADA5E21B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B835D-2E90-DADC-AB49-228DCC1A8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434586-69D9-186C-0DF1-989C515F8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341A8-6DC4-ABB8-63C2-E87F49EAB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869FB-C9E8-4513-8A72-1966DDD0F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F290DE-91FE-B417-902A-B3011B47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AC22C3-9ABE-4743-D40A-9DB6FB557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36C024-4DDA-7BB0-2243-5055A9D1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79579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82B5A-8A4C-536F-249C-B777FE5E2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C6441D-F0AC-0725-CDEF-C78E45C1D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7C0FC-7153-54A6-827B-D988ED4B4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D1D79-5389-587F-A84A-E7314B016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60836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008131-42FD-B66C-22AB-6438F2FE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F395C8-22FC-1416-C6C8-2C518F67B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9CE5D-F617-84D4-EBBF-461FE6CC2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3516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4020-A2D3-1578-5242-C1464C92F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3E6F2-F0C9-6B3D-DC76-B109016BF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CD731-2B0E-FA84-6E1A-0A6FE02E0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F11BE7-808D-E493-1158-352C8D0B2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79C8ED-B14B-CC8D-1A90-C802C9DA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A0EF1-F178-6C53-2B85-6E5F87F2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3618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B1EB6-947A-C714-6638-BB506AE3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CE8027-4CD8-45FC-BEA7-7753489011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D3CF5-D620-CD41-5D2B-C41297C70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EE7D2-0F52-D27A-5A47-440D8DFAF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1AE4B-F423-6DA6-B176-69D081A17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6CD25-4B7A-97D7-DC81-E6520C46B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1371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51890-2EAA-4B12-09FB-2B132783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6C2D4-58A8-0A13-B394-C647E7E1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C3F74-4AE0-0D89-7B28-383D95F94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626A7-B5AF-A033-7C6F-32A01528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6E1BD-5732-008C-2F33-685296D6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37711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EB98B3-E080-0BA4-BF9E-0EEFA77F58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C15DC-94DF-C72E-101D-1925DC99E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BB84E-8521-D966-2D13-5742A3ECC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C9D29-F00C-8E88-47DB-0F47E76E6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A6F38-A2A3-3639-BFD0-20266D40C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39954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43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FC400-742C-AFBE-1679-B3ED7BCA6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323AD-75E7-C7E3-3445-EB66C8E0C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4048-89D2-A30B-C4C8-EFC56B283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E160B-D563-4CBD-A4DB-0C2682CDAC99}" type="datetimeFigureOut">
              <a:rPr lang="en-KE" smtClean="0"/>
              <a:t>29/09/2026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FBE6A-0023-0667-9A57-F0F064C19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6FD25-92BF-C637-1ABE-52A74E0DD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2E237-9777-4007-B522-3F332A601CC2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7008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7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Analysis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of customer churn in an ISP environment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420624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0E5A9E"/>
          </a:solidFill>
          <a:ln w="12700">
            <a:solidFill>
              <a:srgbClr val="0E5A9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 txBox="1"/>
          <p:nvPr/>
        </p:nvSpPr>
        <p:spPr>
          <a:xfrm>
            <a:off x="96012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4937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in first 6 months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420624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0E5A9E"/>
          </a:solidFill>
          <a:ln w="12700">
            <a:solidFill>
              <a:srgbClr val="0E5A9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 txBox="1"/>
          <p:nvPr/>
        </p:nvSpPr>
        <p:spPr>
          <a:xfrm>
            <a:off x="452628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4937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at 5+ complaints / month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4206240"/>
            <a:ext cx="3291840" cy="1280160"/>
          </a:xfrm>
          <a:prstGeom prst="roundRect">
            <a:avLst>
              <a:gd name="adj" fmla="val 5714"/>
            </a:avLst>
          </a:prstGeom>
          <a:solidFill>
            <a:srgbClr val="0E5A9E"/>
          </a:solidFill>
          <a:ln w="12700">
            <a:solidFill>
              <a:srgbClr val="0E5A9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 txBox="1"/>
          <p:nvPr/>
        </p:nvSpPr>
        <p:spPr>
          <a:xfrm>
            <a:off x="8092440" y="4297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4937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at 5 missed payments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Power BI · SQL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C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this analysis and what we asked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947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patterns in customer attrition and the factors related to churn.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areas: tenure, service experience, complaints and payment behaviour.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findings into business actions that improve retention.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16459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947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760720" y="2194560"/>
            <a:ext cx="384048" cy="384048"/>
          </a:xfrm>
          <a:prstGeom prst="ellipse">
            <a:avLst/>
          </a:prstGeom>
          <a:solidFill>
            <a:srgbClr val="094780"/>
          </a:solidFill>
          <a:ln w="12700">
            <a:solidFill>
              <a:srgbClr val="09478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 txBox="1"/>
          <p:nvPr/>
        </p:nvSpPr>
        <p:spPr>
          <a:xfrm>
            <a:off x="57607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1945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lifecycle stage does most churn occur?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0" y="2761488"/>
            <a:ext cx="384048" cy="384048"/>
          </a:xfrm>
          <a:prstGeom prst="ellipse">
            <a:avLst/>
          </a:prstGeom>
          <a:solidFill>
            <a:srgbClr val="094780"/>
          </a:solidFill>
          <a:ln w="12700">
            <a:solidFill>
              <a:srgbClr val="09478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2" name="Text 10"/>
          <p:cNvSpPr txBox="1"/>
          <p:nvPr/>
        </p:nvSpPr>
        <p:spPr>
          <a:xfrm>
            <a:off x="576072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76148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churn change with tenure?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0720" y="3328416"/>
            <a:ext cx="384048" cy="384048"/>
          </a:xfrm>
          <a:prstGeom prst="ellipse">
            <a:avLst/>
          </a:prstGeom>
          <a:solidFill>
            <a:srgbClr val="094780"/>
          </a:solidFill>
          <a:ln w="12700">
            <a:solidFill>
              <a:srgbClr val="09478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 txBox="1"/>
          <p:nvPr/>
        </p:nvSpPr>
        <p:spPr>
          <a:xfrm>
            <a:off x="576072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32841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types of churn occur among new customers?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60720" y="3895344"/>
            <a:ext cx="384048" cy="384048"/>
          </a:xfrm>
          <a:prstGeom prst="ellipse">
            <a:avLst/>
          </a:prstGeom>
          <a:solidFill>
            <a:srgbClr val="094780"/>
          </a:solidFill>
          <a:ln w="12700">
            <a:solidFill>
              <a:srgbClr val="09478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8" name="Text 16"/>
          <p:cNvSpPr txBox="1"/>
          <p:nvPr/>
        </p:nvSpPr>
        <p:spPr>
          <a:xfrm>
            <a:off x="576072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8953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complaints relate to churn?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60720" y="4462272"/>
            <a:ext cx="384048" cy="384048"/>
          </a:xfrm>
          <a:prstGeom prst="ellipse">
            <a:avLst/>
          </a:prstGeom>
          <a:solidFill>
            <a:srgbClr val="094780"/>
          </a:solidFill>
          <a:ln w="12700">
            <a:solidFill>
              <a:srgbClr val="09478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 txBox="1"/>
          <p:nvPr/>
        </p:nvSpPr>
        <p:spPr>
          <a:xfrm>
            <a:off x="5760720" y="4462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46227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missed payments relate to churn?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760720" y="5029200"/>
            <a:ext cx="384048" cy="384048"/>
          </a:xfrm>
          <a:prstGeom prst="ellipse">
            <a:avLst/>
          </a:prstGeom>
          <a:solidFill>
            <a:srgbClr val="094780"/>
          </a:solidFill>
          <a:ln w="12700">
            <a:solidFill>
              <a:srgbClr val="09478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4" name="Text 22"/>
          <p:cNvSpPr txBox="1"/>
          <p:nvPr/>
        </p:nvSpPr>
        <p:spPr>
          <a:xfrm>
            <a:off x="576072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50292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behaviours relate to higher churn?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760720" y="5596128"/>
            <a:ext cx="384048" cy="384048"/>
          </a:xfrm>
          <a:prstGeom prst="ellipse">
            <a:avLst/>
          </a:prstGeom>
          <a:solidFill>
            <a:srgbClr val="D64554"/>
          </a:solidFill>
          <a:ln w="12700">
            <a:solidFill>
              <a:srgbClr val="D64554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5"/>
          <p:cNvSpPr txBox="1"/>
          <p:nvPr/>
        </p:nvSpPr>
        <p:spPr>
          <a:xfrm>
            <a:off x="5760720" y="5596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0" y="55961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the business do to improve retention?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C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Tenure and Churn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customer loss occurs early in the lifecycle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554480"/>
          <a:ext cx="76809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6459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3"/>
          <p:cNvSpPr txBox="1"/>
          <p:nvPr/>
        </p:nvSpPr>
        <p:spPr>
          <a:xfrm>
            <a:off x="8641080" y="1783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64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installed customers churn within the first 6 months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6"/>
          <p:cNvSpPr txBox="1"/>
          <p:nvPr/>
        </p:nvSpPr>
        <p:spPr>
          <a:xfrm>
            <a:off x="8641080" y="3383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947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3,300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lost in months 0–6, the largest drop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4892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15,779 installed; 5,058 still active.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type changes as tenure grows.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C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Experience and Churn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vs. friction-driven churn, tenure cohort 0–6 months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554480"/>
          <a:ext cx="60350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459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3"/>
          <p:cNvSpPr txBox="1"/>
          <p:nvPr/>
        </p:nvSpPr>
        <p:spPr>
          <a:xfrm>
            <a:off x="7086600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947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08660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 in months 0–3 is silent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372600" y="164592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6"/>
          <p:cNvSpPr txBox="1"/>
          <p:nvPr/>
        </p:nvSpPr>
        <p:spPr>
          <a:xfrm>
            <a:off x="9601200" y="17830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64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 in months 4–6 is service friction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3429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947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39319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3 months, most customers leave without a complaint.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months 4–6, most churned customers complained first.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of churn changes as the customer relationship develops.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C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Complaints and Churn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increases as complaint frequency increases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64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at 5+ complaints per month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947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with no complaints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92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repeated complaints need proactive attention.</a:t>
            </a:r>
            <a:endParaRPr lang="en-US" sz="14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4114800" y="155448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C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Behaviour and Churn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increases with missed-payment frequency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55448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12480" y="16459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3"/>
          <p:cNvSpPr txBox="1"/>
          <p:nvPr/>
        </p:nvSpPr>
        <p:spPr>
          <a:xfrm>
            <a:off x="8641080" y="1783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64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at 5 missed payments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324612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6"/>
          <p:cNvSpPr txBox="1"/>
          <p:nvPr/>
        </p:nvSpPr>
        <p:spPr>
          <a:xfrm>
            <a:off x="8641080" y="3383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947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with no missed payments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48920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behaviour is an important indicator of churn risk.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C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to improve customer retention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094780"/>
          </a:solidFill>
          <a:ln w="12700">
            <a:solidFill>
              <a:srgbClr val="09478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947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early engagement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5146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call 7–14 days after installation to capture early issues.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health checks 14–20 days into the subscription.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094780"/>
          </a:solidFill>
          <a:ln w="12700">
            <a:solidFill>
              <a:srgbClr val="094780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 txBox="1"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947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sales incentives with retention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5146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commissions across M1, M2 and M3.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later payments to continued customer activity.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D64554"/>
          </a:solidFill>
          <a:ln w="12700">
            <a:solidFill>
              <a:srgbClr val="D64554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 txBox="1"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 customer friction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920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customers with repeated complaints.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them for proactive intervention.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BEDEE"/>
          </a:solidFill>
          <a:ln w="12700">
            <a:solidFill>
              <a:srgbClr val="FBEDE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0" name="Shape 18"/>
          <p:cNvSpPr/>
          <p:nvPr/>
        </p:nvSpPr>
        <p:spPr>
          <a:xfrm>
            <a:off x="6492240" y="4297680"/>
            <a:ext cx="457200" cy="457200"/>
          </a:xfrm>
          <a:prstGeom prst="ellipse">
            <a:avLst/>
          </a:prstGeom>
          <a:solidFill>
            <a:srgbClr val="D64554"/>
          </a:solidFill>
          <a:ln w="12700">
            <a:solidFill>
              <a:srgbClr val="D64554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 txBox="1"/>
          <p:nvPr/>
        </p:nvSpPr>
        <p:spPr>
          <a:xfrm>
            <a:off x="6492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297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4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 payment behaviour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8920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customers with repeated missed payments.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when payment irregularity increases.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47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Outcome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customer characteristics relate to higher churn: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0E5A9E"/>
          </a:solidFill>
          <a:ln w="12700">
            <a:solidFill>
              <a:srgbClr val="0E5A9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 txBox="1"/>
          <p:nvPr/>
        </p:nvSpPr>
        <p:spPr>
          <a:xfrm>
            <a:off x="1005840" y="2514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tenure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churn in the first 6 months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0E5A9E"/>
          </a:solidFill>
          <a:ln w="12700">
            <a:solidFill>
              <a:srgbClr val="0E5A9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 txBox="1"/>
          <p:nvPr/>
        </p:nvSpPr>
        <p:spPr>
          <a:xfrm>
            <a:off x="4617720" y="2514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complaints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83% churn rate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0" y="2286000"/>
            <a:ext cx="3337560" cy="1737360"/>
          </a:xfrm>
          <a:prstGeom prst="roundRect">
            <a:avLst>
              <a:gd name="adj" fmla="val 4211"/>
            </a:avLst>
          </a:prstGeom>
          <a:solidFill>
            <a:srgbClr val="0E5A9E"/>
          </a:solidFill>
          <a:ln w="12700">
            <a:solidFill>
              <a:srgbClr val="0E5A9E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 txBox="1"/>
          <p:nvPr/>
        </p:nvSpPr>
        <p:spPr>
          <a:xfrm>
            <a:off x="8229600" y="251460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Irregular payments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1546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77% churn rate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10652760" cy="1371600"/>
          </a:xfrm>
          <a:prstGeom prst="roundRect">
            <a:avLst>
              <a:gd name="adj" fmla="val 5333"/>
            </a:avLst>
          </a:prstGeom>
          <a:solidFill>
            <a:srgbClr val="D64554"/>
          </a:solidFill>
          <a:ln w="12700">
            <a:solidFill>
              <a:srgbClr val="D64554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 txBox="1"/>
          <p:nvPr/>
        </p:nvSpPr>
        <p:spPr>
          <a:xfrm>
            <a:off x="1005840" y="46177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stage: Churn prediction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166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are the basis for targeted retention strategies and a churn prediction model.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498</Words>
  <Application>Microsoft Office PowerPoint</Application>
  <PresentationFormat>Widescreen</PresentationFormat>
  <Paragraphs>101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Jane Thiong'o</dc:creator>
  <cp:lastModifiedBy>Jane Thiong'o</cp:lastModifiedBy>
  <cp:revision>1</cp:revision>
  <dcterms:created xsi:type="dcterms:W3CDTF">2026-09-29T20:33:53Z</dcterms:created>
  <dcterms:modified xsi:type="dcterms:W3CDTF">2026-09-29T20:36:52Z</dcterms:modified>
</cp:coreProperties>
</file>